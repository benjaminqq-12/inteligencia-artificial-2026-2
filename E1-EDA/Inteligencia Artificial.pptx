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Open Sans Bold" charset="1" panose="020B0806030504020204"/>
      <p:regular r:id="rId21"/>
    </p:embeddedFont>
    <p:embeddedFont>
      <p:font typeface="Aileron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322016" cy="10287000"/>
            <a:chOff x="0" y="0"/>
            <a:chExt cx="2461553" cy="2055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553" cy="2055021"/>
            </a:xfrm>
            <a:custGeom>
              <a:avLst/>
              <a:gdLst/>
              <a:ahLst/>
              <a:cxnLst/>
              <a:rect r="r" b="b" t="t" l="l"/>
              <a:pathLst>
                <a:path h="2055021" w="2461553">
                  <a:moveTo>
                    <a:pt x="0" y="0"/>
                  </a:moveTo>
                  <a:lnTo>
                    <a:pt x="2461553" y="0"/>
                  </a:lnTo>
                  <a:lnTo>
                    <a:pt x="2461553" y="2055021"/>
                  </a:lnTo>
                  <a:lnTo>
                    <a:pt x="0" y="2055021"/>
                  </a:lnTo>
                  <a:close/>
                </a:path>
              </a:pathLst>
            </a:custGeom>
            <a:solidFill>
              <a:srgbClr val="D0D7D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04549" y="-159249"/>
            <a:ext cx="8083451" cy="10446249"/>
          </a:xfrm>
          <a:custGeom>
            <a:avLst/>
            <a:gdLst/>
            <a:ahLst/>
            <a:cxnLst/>
            <a:rect r="r" b="b" t="t" l="l"/>
            <a:pathLst>
              <a:path h="10446249" w="8083451">
                <a:moveTo>
                  <a:pt x="0" y="0"/>
                </a:moveTo>
                <a:lnTo>
                  <a:pt x="8083451" y="0"/>
                </a:lnTo>
                <a:lnTo>
                  <a:pt x="8083451" y="10446249"/>
                </a:lnTo>
                <a:lnTo>
                  <a:pt x="0" y="10446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144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7187" y="6941161"/>
            <a:ext cx="6741423" cy="294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0"/>
              </a:lnSpc>
            </a:pPr>
            <a:r>
              <a:rPr lang="en-US" sz="335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Integrantes: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Juan Foti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Cristóbal Cheguán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Benjamín Quiñones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Constanza Gavilán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0697"/>
            <a:ext cx="8115300" cy="440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Inteligencia Artificial</a:t>
            </a:r>
          </a:p>
          <a:p>
            <a:pPr algn="ctr">
              <a:lnSpc>
                <a:spcPts val="11760"/>
              </a:lnSpc>
            </a:pPr>
            <a:r>
              <a:rPr lang="en-US" sz="8400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620454 - 1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5990" y="4921000"/>
            <a:ext cx="6660720" cy="167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Calidad y preparación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04549" y="-13888829"/>
            <a:ext cx="8389714" cy="24175829"/>
          </a:xfrm>
          <a:custGeom>
            <a:avLst/>
            <a:gdLst/>
            <a:ahLst/>
            <a:cxnLst/>
            <a:rect r="r" b="b" t="t" l="l"/>
            <a:pathLst>
              <a:path h="24175829" w="8389714">
                <a:moveTo>
                  <a:pt x="0" y="0"/>
                </a:moveTo>
                <a:lnTo>
                  <a:pt x="8389714" y="0"/>
                </a:lnTo>
                <a:lnTo>
                  <a:pt x="8389714" y="24175829"/>
                </a:lnTo>
                <a:lnTo>
                  <a:pt x="0" y="24175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222" t="0" r="-1099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14074" y="1028700"/>
            <a:ext cx="8083451" cy="8083451"/>
          </a:xfrm>
          <a:custGeom>
            <a:avLst/>
            <a:gdLst/>
            <a:ahLst/>
            <a:cxnLst/>
            <a:rect r="r" b="b" t="t" l="l"/>
            <a:pathLst>
              <a:path h="8083451" w="8083451">
                <a:moveTo>
                  <a:pt x="0" y="0"/>
                </a:moveTo>
                <a:lnTo>
                  <a:pt x="8083451" y="0"/>
                </a:lnTo>
                <a:lnTo>
                  <a:pt x="8083451" y="8083451"/>
                </a:lnTo>
                <a:lnTo>
                  <a:pt x="0" y="8083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8164983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Problemas encontrados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5425" y="3788606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nulos/faltantes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5425" y="5188342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atípicos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5425" y="7925769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duplicados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5425" y="6566581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con inconsistencias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14074" y="-23147129"/>
            <a:ext cx="8083451" cy="24175829"/>
          </a:xfrm>
          <a:custGeom>
            <a:avLst/>
            <a:gdLst/>
            <a:ahLst/>
            <a:cxnLst/>
            <a:rect r="r" b="b" t="t" l="l"/>
            <a:pathLst>
              <a:path h="24175829" w="8083451">
                <a:moveTo>
                  <a:pt x="0" y="0"/>
                </a:moveTo>
                <a:lnTo>
                  <a:pt x="8083451" y="0"/>
                </a:lnTo>
                <a:lnTo>
                  <a:pt x="8083451" y="24175829"/>
                </a:lnTo>
                <a:lnTo>
                  <a:pt x="0" y="24175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186" t="0" r="-117891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28700" y="3169481"/>
            <a:ext cx="4575578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7627" y="2016151"/>
            <a:ext cx="4575578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19779" y="5124450"/>
            <a:ext cx="9162317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445969" y="4072237"/>
            <a:ext cx="3543368" cy="3543368"/>
          </a:xfrm>
          <a:custGeom>
            <a:avLst/>
            <a:gdLst/>
            <a:ahLst/>
            <a:cxnLst/>
            <a:rect r="r" b="b" t="t" l="l"/>
            <a:pathLst>
              <a:path h="3543368" w="3543368">
                <a:moveTo>
                  <a:pt x="0" y="0"/>
                </a:moveTo>
                <a:lnTo>
                  <a:pt x="3543368" y="0"/>
                </a:lnTo>
                <a:lnTo>
                  <a:pt x="3543368" y="3543368"/>
                </a:lnTo>
                <a:lnTo>
                  <a:pt x="0" y="3543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1956" y="8444103"/>
            <a:ext cx="12635697" cy="341249"/>
          </a:xfrm>
          <a:custGeom>
            <a:avLst/>
            <a:gdLst/>
            <a:ahLst/>
            <a:cxnLst/>
            <a:rect r="r" b="b" t="t" l="l"/>
            <a:pathLst>
              <a:path h="341249" w="12635697">
                <a:moveTo>
                  <a:pt x="0" y="0"/>
                </a:moveTo>
                <a:lnTo>
                  <a:pt x="12635697" y="0"/>
                </a:lnTo>
                <a:lnTo>
                  <a:pt x="12635697" y="341249"/>
                </a:lnTo>
                <a:lnTo>
                  <a:pt x="0" y="34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85825"/>
            <a:ext cx="900901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nulos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79" y="2488635"/>
            <a:ext cx="15369558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Depende de la cantidad de datos nulls y si son de tipo categóricas o numéricas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79" y="5524500"/>
            <a:ext cx="10061272" cy="65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Categóricas: Se seleccionan por su moda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9779" y="6493764"/>
            <a:ext cx="10645520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Numéricas: Si tiene una desviación estándar alto, se utiliza la mediana, sino, se utiliza la media.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9779" y="3996037"/>
            <a:ext cx="10061272" cy="65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Si la cantidad de datos null &lt;5%, se imputan.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900901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atípicos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957627" y="2016151"/>
            <a:ext cx="5262041" cy="3149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961591" y="4792844"/>
            <a:ext cx="3843327" cy="3843327"/>
          </a:xfrm>
          <a:custGeom>
            <a:avLst/>
            <a:gdLst/>
            <a:ahLst/>
            <a:cxnLst/>
            <a:rect r="r" b="b" t="t" l="l"/>
            <a:pathLst>
              <a:path h="3843327" w="3843327">
                <a:moveTo>
                  <a:pt x="0" y="0"/>
                </a:moveTo>
                <a:lnTo>
                  <a:pt x="3843327" y="0"/>
                </a:lnTo>
                <a:lnTo>
                  <a:pt x="3843327" y="3843327"/>
                </a:lnTo>
                <a:lnTo>
                  <a:pt x="0" y="384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5629" y="2723796"/>
            <a:ext cx="14019743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Los datos atípicos se pueden atender con distintos tratamientos:</a:t>
            </a:r>
          </a:p>
          <a:p>
            <a:pPr algn="just">
              <a:lnSpc>
                <a:spcPts val="537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75629" y="6878737"/>
            <a:ext cx="10789584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376"/>
              </a:lnSpc>
              <a:spcBef>
                <a:spcPct val="0"/>
              </a:spcBef>
            </a:pPr>
            <a:r>
              <a:rPr lang="en-US" sz="3840" strike="noStrike" u="none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Windsorization, que en vez de eliminar, los limita a percentiles especificos.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5629" y="4278712"/>
            <a:ext cx="10789584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376"/>
              </a:lnSpc>
              <a:spcBef>
                <a:spcPct val="0"/>
              </a:spcBef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Eliminar a los datos que tengan una desviación estándar muy alta.</a:t>
            </a:r>
          </a:p>
        </p:txBody>
      </p:sp>
      <p:sp>
        <p:nvSpPr>
          <p:cNvPr name="AutoShape 8" id="8"/>
          <p:cNvSpPr/>
          <p:nvPr/>
        </p:nvSpPr>
        <p:spPr>
          <a:xfrm>
            <a:off x="1619779" y="6282432"/>
            <a:ext cx="10745435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245844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con inconsistencias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957627" y="2016151"/>
            <a:ext cx="9778161" cy="3149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731598" y="5386168"/>
            <a:ext cx="3527702" cy="3527702"/>
          </a:xfrm>
          <a:custGeom>
            <a:avLst/>
            <a:gdLst/>
            <a:ahLst/>
            <a:cxnLst/>
            <a:rect r="r" b="b" t="t" l="l"/>
            <a:pathLst>
              <a:path h="3527702" w="3527702">
                <a:moveTo>
                  <a:pt x="0" y="0"/>
                </a:moveTo>
                <a:lnTo>
                  <a:pt x="3527702" y="0"/>
                </a:lnTo>
                <a:lnTo>
                  <a:pt x="3527702" y="3527701"/>
                </a:lnTo>
                <a:lnTo>
                  <a:pt x="0" y="3527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8678" y="6324334"/>
            <a:ext cx="11978470" cy="1651369"/>
          </a:xfrm>
          <a:custGeom>
            <a:avLst/>
            <a:gdLst/>
            <a:ahLst/>
            <a:cxnLst/>
            <a:rect r="r" b="b" t="t" l="l"/>
            <a:pathLst>
              <a:path h="1651369" w="11978470">
                <a:moveTo>
                  <a:pt x="0" y="0"/>
                </a:moveTo>
                <a:lnTo>
                  <a:pt x="11978470" y="0"/>
                </a:lnTo>
                <a:lnTo>
                  <a:pt x="11978470" y="1651369"/>
                </a:lnTo>
                <a:lnTo>
                  <a:pt x="0" y="1651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0254" y="2933700"/>
            <a:ext cx="14240467" cy="20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Para los datos que tengan inconsistencias, detecta a los datos que son imposibles, y los elimina para evitar confusión de algoritmo y resultados basura.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61104" y="24752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57627" y="2016151"/>
            <a:ext cx="6543049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302847"/>
            <a:ext cx="16230600" cy="955453"/>
          </a:xfrm>
          <a:custGeom>
            <a:avLst/>
            <a:gdLst/>
            <a:ahLst/>
            <a:cxnLst/>
            <a:rect r="r" b="b" t="t" l="l"/>
            <a:pathLst>
              <a:path h="955453" w="16230600">
                <a:moveTo>
                  <a:pt x="0" y="0"/>
                </a:moveTo>
                <a:lnTo>
                  <a:pt x="16230600" y="0"/>
                </a:lnTo>
                <a:lnTo>
                  <a:pt x="16230600" y="955453"/>
                </a:lnTo>
                <a:lnTo>
                  <a:pt x="0" y="95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85825"/>
            <a:ext cx="900901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duplicados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87243"/>
            <a:ext cx="9664048" cy="403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A los datos duplicados se le eliminan para evitar contaminación. Solo 100 de los 5100 registros totales (1,961%) son duplicados, por lo que la eliminación de estos no tendrá repercusiones significativas negativas en el análisis de la data.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433" y="1625280"/>
            <a:ext cx="5364450" cy="3730703"/>
          </a:xfrm>
          <a:custGeom>
            <a:avLst/>
            <a:gdLst/>
            <a:ahLst/>
            <a:cxnLst/>
            <a:rect r="r" b="b" t="t" l="l"/>
            <a:pathLst>
              <a:path h="3730703" w="5364450">
                <a:moveTo>
                  <a:pt x="0" y="0"/>
                </a:moveTo>
                <a:lnTo>
                  <a:pt x="5364450" y="0"/>
                </a:lnTo>
                <a:lnTo>
                  <a:pt x="5364450" y="3730703"/>
                </a:lnTo>
                <a:lnTo>
                  <a:pt x="0" y="373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6802" y="5815533"/>
            <a:ext cx="11928743" cy="4186020"/>
          </a:xfrm>
          <a:custGeom>
            <a:avLst/>
            <a:gdLst/>
            <a:ahLst/>
            <a:cxnLst/>
            <a:rect r="r" b="b" t="t" l="l"/>
            <a:pathLst>
              <a:path h="4186020" w="11928743">
                <a:moveTo>
                  <a:pt x="0" y="0"/>
                </a:moveTo>
                <a:lnTo>
                  <a:pt x="11928743" y="0"/>
                </a:lnTo>
                <a:lnTo>
                  <a:pt x="11928743" y="4186020"/>
                </a:lnTo>
                <a:lnTo>
                  <a:pt x="0" y="4186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28758" y="1626566"/>
            <a:ext cx="5430483" cy="3773294"/>
          </a:xfrm>
          <a:custGeom>
            <a:avLst/>
            <a:gdLst/>
            <a:ahLst/>
            <a:cxnLst/>
            <a:rect r="r" b="b" t="t" l="l"/>
            <a:pathLst>
              <a:path h="3773294" w="5430483">
                <a:moveTo>
                  <a:pt x="0" y="0"/>
                </a:moveTo>
                <a:lnTo>
                  <a:pt x="5430484" y="0"/>
                </a:lnTo>
                <a:lnTo>
                  <a:pt x="5430484" y="3773294"/>
                </a:lnTo>
                <a:lnTo>
                  <a:pt x="0" y="3773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85897" y="1626566"/>
            <a:ext cx="5335838" cy="3729417"/>
          </a:xfrm>
          <a:custGeom>
            <a:avLst/>
            <a:gdLst/>
            <a:ahLst/>
            <a:cxnLst/>
            <a:rect r="r" b="b" t="t" l="l"/>
            <a:pathLst>
              <a:path h="3729417" w="5335838">
                <a:moveTo>
                  <a:pt x="0" y="0"/>
                </a:moveTo>
                <a:lnTo>
                  <a:pt x="5335838" y="0"/>
                </a:lnTo>
                <a:lnTo>
                  <a:pt x="5335838" y="3729417"/>
                </a:lnTo>
                <a:lnTo>
                  <a:pt x="0" y="3729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3205" y="319085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 atípicos graficados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810" y="2909855"/>
            <a:ext cx="8480761" cy="5292129"/>
          </a:xfrm>
          <a:custGeom>
            <a:avLst/>
            <a:gdLst/>
            <a:ahLst/>
            <a:cxnLst/>
            <a:rect r="r" b="b" t="t" l="l"/>
            <a:pathLst>
              <a:path h="5292129" w="8480761">
                <a:moveTo>
                  <a:pt x="0" y="0"/>
                </a:moveTo>
                <a:lnTo>
                  <a:pt x="8480761" y="0"/>
                </a:lnTo>
                <a:lnTo>
                  <a:pt x="8480761" y="5292129"/>
                </a:lnTo>
                <a:lnTo>
                  <a:pt x="0" y="529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0888" y="2861174"/>
            <a:ext cx="8003244" cy="5340810"/>
          </a:xfrm>
          <a:custGeom>
            <a:avLst/>
            <a:gdLst/>
            <a:ahLst/>
            <a:cxnLst/>
            <a:rect r="r" b="b" t="t" l="l"/>
            <a:pathLst>
              <a:path h="5340810" w="8003244">
                <a:moveTo>
                  <a:pt x="0" y="0"/>
                </a:moveTo>
                <a:lnTo>
                  <a:pt x="8003244" y="0"/>
                </a:lnTo>
                <a:lnTo>
                  <a:pt x="8003244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de gráficas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2604" y="2861174"/>
            <a:ext cx="8292087" cy="5340810"/>
          </a:xfrm>
          <a:custGeom>
            <a:avLst/>
            <a:gdLst/>
            <a:ahLst/>
            <a:cxnLst/>
            <a:rect r="r" b="b" t="t" l="l"/>
            <a:pathLst>
              <a:path h="5340810" w="8292087">
                <a:moveTo>
                  <a:pt x="0" y="0"/>
                </a:moveTo>
                <a:lnTo>
                  <a:pt x="8292087" y="0"/>
                </a:lnTo>
                <a:lnTo>
                  <a:pt x="8292087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4" t="0" r="-704" b="-17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0888" y="2861174"/>
            <a:ext cx="7942148" cy="5340810"/>
          </a:xfrm>
          <a:custGeom>
            <a:avLst/>
            <a:gdLst/>
            <a:ahLst/>
            <a:cxnLst/>
            <a:rect r="r" b="b" t="t" l="l"/>
            <a:pathLst>
              <a:path h="5340810" w="7942148">
                <a:moveTo>
                  <a:pt x="0" y="0"/>
                </a:moveTo>
                <a:lnTo>
                  <a:pt x="7942148" y="0"/>
                </a:lnTo>
                <a:lnTo>
                  <a:pt x="7942148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4" t="0" r="-195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de gráficas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810" y="2861174"/>
            <a:ext cx="8480761" cy="5340810"/>
          </a:xfrm>
          <a:custGeom>
            <a:avLst/>
            <a:gdLst/>
            <a:ahLst/>
            <a:cxnLst/>
            <a:rect r="r" b="b" t="t" l="l"/>
            <a:pathLst>
              <a:path h="5340810" w="8480761">
                <a:moveTo>
                  <a:pt x="0" y="0"/>
                </a:moveTo>
                <a:lnTo>
                  <a:pt x="8480761" y="0"/>
                </a:lnTo>
                <a:lnTo>
                  <a:pt x="8480761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9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0888" y="2861174"/>
            <a:ext cx="8247627" cy="5340810"/>
          </a:xfrm>
          <a:custGeom>
            <a:avLst/>
            <a:gdLst/>
            <a:ahLst/>
            <a:cxnLst/>
            <a:rect r="r" b="b" t="t" l="l"/>
            <a:pathLst>
              <a:path h="5340810" w="8247627">
                <a:moveTo>
                  <a:pt x="0" y="0"/>
                </a:moveTo>
                <a:lnTo>
                  <a:pt x="8247627" y="0"/>
                </a:lnTo>
                <a:lnTo>
                  <a:pt x="8247627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77" t="-44" r="0" b="-4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de gráficas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0835" y="1933213"/>
            <a:ext cx="12269431" cy="3553945"/>
          </a:xfrm>
          <a:custGeom>
            <a:avLst/>
            <a:gdLst/>
            <a:ahLst/>
            <a:cxnLst/>
            <a:rect r="r" b="b" t="t" l="l"/>
            <a:pathLst>
              <a:path h="3553945" w="12269431">
                <a:moveTo>
                  <a:pt x="0" y="0"/>
                </a:moveTo>
                <a:lnTo>
                  <a:pt x="12269431" y="0"/>
                </a:lnTo>
                <a:lnTo>
                  <a:pt x="12269431" y="3553945"/>
                </a:lnTo>
                <a:lnTo>
                  <a:pt x="0" y="3553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1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60835" y="6059727"/>
            <a:ext cx="12269431" cy="3612258"/>
          </a:xfrm>
          <a:custGeom>
            <a:avLst/>
            <a:gdLst/>
            <a:ahLst/>
            <a:cxnLst/>
            <a:rect r="r" b="b" t="t" l="l"/>
            <a:pathLst>
              <a:path h="3612258" w="12269431">
                <a:moveTo>
                  <a:pt x="0" y="0"/>
                </a:moveTo>
                <a:lnTo>
                  <a:pt x="12269431" y="0"/>
                </a:lnTo>
                <a:lnTo>
                  <a:pt x="12269431" y="3612258"/>
                </a:lnTo>
                <a:lnTo>
                  <a:pt x="0" y="361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 después de tratamiento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919106"/>
            <a:ext cx="7631106" cy="6339194"/>
          </a:xfrm>
          <a:custGeom>
            <a:avLst/>
            <a:gdLst/>
            <a:ahLst/>
            <a:cxnLst/>
            <a:rect r="r" b="b" t="t" l="l"/>
            <a:pathLst>
              <a:path h="6339194" w="7631106">
                <a:moveTo>
                  <a:pt x="0" y="0"/>
                </a:moveTo>
                <a:lnTo>
                  <a:pt x="7631106" y="0"/>
                </a:lnTo>
                <a:lnTo>
                  <a:pt x="7631106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8194" y="2919106"/>
            <a:ext cx="7631106" cy="6339194"/>
          </a:xfrm>
          <a:custGeom>
            <a:avLst/>
            <a:gdLst/>
            <a:ahLst/>
            <a:cxnLst/>
            <a:rect r="r" b="b" t="t" l="l"/>
            <a:pathLst>
              <a:path h="6339194" w="7631106">
                <a:moveTo>
                  <a:pt x="0" y="0"/>
                </a:moveTo>
                <a:lnTo>
                  <a:pt x="7631106" y="0"/>
                </a:lnTo>
                <a:lnTo>
                  <a:pt x="7631106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900901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Resultados Principales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60115"/>
            <a:ext cx="16249393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 y estado final de los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DAHUGZnNLbo</dc:identifier>
  <dcterms:modified xsi:type="dcterms:W3CDTF">2011-08-01T06:04:30Z</dcterms:modified>
  <cp:revision>1</cp:revision>
  <dc:title>Inteligencia Artificial</dc:title>
</cp:coreProperties>
</file>